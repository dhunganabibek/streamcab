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Default Extension="png" ContentType="image/png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5765800" cy="3244850"/>
  <p:notesSz cx="5765800" cy="3244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084565" y="1131201"/>
            <a:ext cx="1596669" cy="4032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5920"/>
          </a:xfrm>
          <a:custGeom>
            <a:avLst/>
            <a:gdLst/>
            <a:ahLst/>
            <a:cxnLst/>
            <a:rect l="l" t="t" r="r" b="b"/>
            <a:pathLst>
              <a:path w="5760085" h="375920">
                <a:moveTo>
                  <a:pt x="5759996" y="0"/>
                </a:moveTo>
                <a:lnTo>
                  <a:pt x="0" y="0"/>
                </a:lnTo>
                <a:lnTo>
                  <a:pt x="0" y="375881"/>
                </a:lnTo>
                <a:lnTo>
                  <a:pt x="5759996" y="375881"/>
                </a:lnTo>
                <a:lnTo>
                  <a:pt x="5759996" y="0"/>
                </a:lnTo>
                <a:close/>
              </a:path>
            </a:pathLst>
          </a:custGeom>
          <a:solidFill>
            <a:srgbClr val="1A2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5920"/>
          </a:xfrm>
          <a:custGeom>
            <a:avLst/>
            <a:gdLst/>
            <a:ahLst/>
            <a:cxnLst/>
            <a:rect l="l" t="t" r="r" b="b"/>
            <a:pathLst>
              <a:path w="5760085" h="375920">
                <a:moveTo>
                  <a:pt x="5759996" y="0"/>
                </a:moveTo>
                <a:lnTo>
                  <a:pt x="0" y="0"/>
                </a:lnTo>
                <a:lnTo>
                  <a:pt x="0" y="375881"/>
                </a:lnTo>
                <a:lnTo>
                  <a:pt x="5759996" y="375881"/>
                </a:lnTo>
                <a:lnTo>
                  <a:pt x="5759996" y="0"/>
                </a:lnTo>
                <a:close/>
              </a:path>
            </a:pathLst>
          </a:custGeom>
          <a:solidFill>
            <a:srgbClr val="1A2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390232" y="875637"/>
            <a:ext cx="2294890" cy="17227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631" y="76019"/>
            <a:ext cx="2326640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07402" y="869264"/>
            <a:ext cx="4145279" cy="9563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5364848" y="3056268"/>
            <a:ext cx="306704" cy="1733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3.xm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7.xml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1.xml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5.xml"/></Relationships>
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
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8.xml"/></Relationships>
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youtu.be/lEEw0fPl7UM" TargetMode="External"/><Relationship Id="rId3" Type="http://schemas.openxmlformats.org/officeDocument/2006/relationships/hyperlink" Target="https://github.com/dhunganabibek/StreamCab" TargetMode="External"/><Relationship Id="rId4" Type="http://schemas.openxmlformats.org/officeDocument/2006/relationships/hyperlink" Target="http://www.nyc.gov/site/tlc/about/tlc-trip-record-data.page" TargetMode="External"/></Relationships>
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47294" y="639251"/>
            <a:ext cx="931544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0">
                <a:solidFill>
                  <a:srgbClr val="22373A"/>
                </a:solidFill>
              </a:rPr>
              <a:t>StreamCab</a:t>
            </a:r>
            <a:endParaRPr sz="1400"/>
          </a:p>
        </p:txBody>
      </p:sp>
      <p:sp>
        <p:nvSpPr>
          <p:cNvPr id="4" name="object 4"/>
          <p:cNvSpPr txBox="1"/>
          <p:nvPr/>
        </p:nvSpPr>
        <p:spPr>
          <a:xfrm>
            <a:off x="347294" y="942912"/>
            <a:ext cx="3098165" cy="433070"/>
          </a:xfrm>
          <a:prstGeom prst="rect">
            <a:avLst/>
          </a:prstGeom>
        </p:spPr>
        <p:txBody>
          <a:bodyPr wrap="square" lIns="0" tIns="336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65"/>
              </a:spcBef>
            </a:pPr>
            <a:r>
              <a:rPr dirty="0" sz="1200" spc="50">
                <a:solidFill>
                  <a:srgbClr val="22373A"/>
                </a:solidFill>
                <a:latin typeface="Calibri"/>
                <a:cs typeface="Calibri"/>
              </a:rPr>
              <a:t>Real-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Time</a:t>
            </a:r>
            <a:r>
              <a:rPr dirty="0" sz="12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Taxi</a:t>
            </a:r>
            <a:r>
              <a:rPr dirty="0" sz="12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Fare</a:t>
            </a:r>
            <a:r>
              <a:rPr dirty="0" sz="12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40">
                <a:solidFill>
                  <a:srgbClr val="22373A"/>
                </a:solidFill>
                <a:latin typeface="Calibri"/>
                <a:cs typeface="Calibri"/>
              </a:rPr>
              <a:t>Intelligence</a:t>
            </a:r>
            <a:endParaRPr sz="12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60"/>
              </a:spcBef>
            </a:pP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Kafka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6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50">
                <a:solidFill>
                  <a:srgbClr val="22373A"/>
                </a:solidFill>
                <a:latin typeface="Calibri"/>
                <a:cs typeface="Calibri"/>
              </a:rPr>
              <a:t>Structured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50">
                <a:solidFill>
                  <a:srgbClr val="22373A"/>
                </a:solidFill>
                <a:latin typeface="Calibri"/>
                <a:cs typeface="Calibri"/>
              </a:rPr>
              <a:t>Streaming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-1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601400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2C7DD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347294" y="1840477"/>
            <a:ext cx="2628900" cy="6794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5300"/>
              </a:lnSpc>
              <a:spcBef>
                <a:spcPts val="100"/>
              </a:spcBef>
            </a:pP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Bibek</a:t>
            </a:r>
            <a:r>
              <a:rPr dirty="0" sz="10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Dhungana,</a:t>
            </a:r>
            <a:r>
              <a:rPr dirty="0" sz="10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Xiaodi</a:t>
            </a:r>
            <a:r>
              <a:rPr dirty="0" sz="10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Shao,</a:t>
            </a:r>
            <a:r>
              <a:rPr dirty="0" sz="10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45">
                <a:solidFill>
                  <a:srgbClr val="22373A"/>
                </a:solidFill>
                <a:latin typeface="Calibri"/>
                <a:cs typeface="Calibri"/>
              </a:rPr>
              <a:t>Raivath</a:t>
            </a:r>
            <a:r>
              <a:rPr dirty="0" sz="10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Mallela 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April</a:t>
            </a:r>
            <a:r>
              <a:rPr dirty="0" sz="10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22,</a:t>
            </a:r>
            <a:r>
              <a:rPr dirty="0" sz="10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20">
                <a:solidFill>
                  <a:srgbClr val="22373A"/>
                </a:solidFill>
                <a:latin typeface="Calibri"/>
                <a:cs typeface="Calibri"/>
              </a:rPr>
              <a:t>2026</a:t>
            </a:r>
            <a:endParaRPr sz="1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40"/>
              </a:spcBef>
            </a:pPr>
            <a:r>
              <a:rPr dirty="0" sz="800">
                <a:solidFill>
                  <a:srgbClr val="22373A"/>
                </a:solidFill>
                <a:latin typeface="Calibri"/>
                <a:cs typeface="Calibri"/>
              </a:rPr>
              <a:t>Big</a:t>
            </a:r>
            <a:r>
              <a:rPr dirty="0" sz="8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8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 spc="-10">
                <a:solidFill>
                  <a:srgbClr val="22373A"/>
                </a:solidFill>
                <a:latin typeface="Calibri"/>
                <a:cs typeface="Calibri"/>
              </a:rPr>
              <a:t>Application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-10"/>
              <a:t>Agenda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61594">
              <a:lnSpc>
                <a:spcPct val="100000"/>
              </a:lnSpc>
              <a:spcBef>
                <a:spcPts val="180"/>
              </a:spcBef>
            </a:pPr>
            <a:r>
              <a:rPr dirty="0" spc="-10"/>
              <a:t>1</a:t>
            </a:r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48157" y="1113012"/>
            <a:ext cx="3710940" cy="120523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87960" indent="-161925">
              <a:lnSpc>
                <a:spcPct val="100000"/>
              </a:lnSpc>
              <a:spcBef>
                <a:spcPts val="6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Overview</a:t>
            </a:r>
            <a:r>
              <a:rPr dirty="0" sz="1100" spc="24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problem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statement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system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architecture</a:t>
            </a:r>
            <a:endParaRPr sz="1100">
              <a:latin typeface="Calibri"/>
              <a:cs typeface="Calibri"/>
            </a:endParaRPr>
          </a:p>
          <a:p>
            <a:pPr marL="188595" indent="-170815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1100" spc="2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source,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collection,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schema,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metadata</a:t>
            </a:r>
            <a:endParaRPr sz="1100">
              <a:latin typeface="Calibri"/>
              <a:cs typeface="Calibri"/>
            </a:endParaRPr>
          </a:p>
          <a:p>
            <a:pPr marL="188595" indent="-171450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spc="50" b="1">
                <a:solidFill>
                  <a:srgbClr val="22373A"/>
                </a:solidFill>
                <a:latin typeface="Calibri"/>
                <a:cs typeface="Calibri"/>
              </a:rPr>
              <a:t>Process</a:t>
            </a:r>
            <a:r>
              <a:rPr dirty="0" sz="1100" spc="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end-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to-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end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pipeline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inputs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outputs</a:t>
            </a:r>
            <a:endParaRPr sz="1100">
              <a:latin typeface="Calibri"/>
              <a:cs typeface="Calibri"/>
            </a:endParaRPr>
          </a:p>
          <a:p>
            <a:pPr marL="188595" indent="-175895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spc="50" b="1">
                <a:solidFill>
                  <a:srgbClr val="22373A"/>
                </a:solidFill>
                <a:latin typeface="Calibri"/>
                <a:cs typeface="Calibri"/>
              </a:rPr>
              <a:t>Results</a:t>
            </a:r>
            <a:r>
              <a:rPr dirty="0" sz="1100" spc="9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dashboard,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model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quality,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insights</a:t>
            </a:r>
            <a:endParaRPr sz="1100">
              <a:latin typeface="Calibri"/>
              <a:cs typeface="Calibri"/>
            </a:endParaRPr>
          </a:p>
          <a:p>
            <a:pPr marL="187960" indent="-171450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Takeaways</a:t>
            </a:r>
            <a:r>
              <a:rPr dirty="0" sz="1100" spc="17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what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worked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what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was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hard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17457"/>
            <a:ext cx="79946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50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Overview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72456"/>
            <a:ext cx="3048635" cy="5080"/>
            <a:chOff x="1356004" y="1672456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72456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72456"/>
              <a:ext cx="203200" cy="5080"/>
            </a:xfrm>
            <a:custGeom>
              <a:avLst/>
              <a:gdLst/>
              <a:ahLst/>
              <a:cxnLst/>
              <a:rect l="l" t="t" r="r" b="b"/>
              <a:pathLst>
                <a:path w="203200" h="5080">
                  <a:moveTo>
                    <a:pt x="0" y="5060"/>
                  </a:moveTo>
                  <a:lnTo>
                    <a:pt x="0" y="0"/>
                  </a:lnTo>
                  <a:lnTo>
                    <a:pt x="203199" y="0"/>
                  </a:lnTo>
                  <a:lnTo>
                    <a:pt x="2031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10"/>
              <a:t>Problem</a:t>
            </a:r>
            <a:r>
              <a:rPr dirty="0" spc="245"/>
              <a:t> </a:t>
            </a:r>
            <a:r>
              <a:rPr dirty="0" spc="40"/>
              <a:t>Statement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75090"/>
            <a:ext cx="4925695" cy="177228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60">
                <a:solidFill>
                  <a:srgbClr val="22373A"/>
                </a:solidFill>
                <a:latin typeface="Calibri"/>
                <a:cs typeface="Calibri"/>
              </a:rPr>
              <a:t>NYC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taxi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90">
                <a:solidFill>
                  <a:srgbClr val="22373A"/>
                </a:solidFill>
                <a:latin typeface="Calibri"/>
                <a:cs typeface="Calibri"/>
              </a:rPr>
              <a:t>demand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9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80">
                <a:solidFill>
                  <a:srgbClr val="22373A"/>
                </a:solidFill>
                <a:latin typeface="Calibri"/>
                <a:cs typeface="Calibri"/>
              </a:rPr>
              <a:t>pricing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shift rapidly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by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zone </a:t>
            </a:r>
            <a:r>
              <a:rPr dirty="0" sz="1400" spc="9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40">
                <a:solidFill>
                  <a:srgbClr val="22373A"/>
                </a:solidFill>
                <a:latin typeface="Calibri"/>
                <a:cs typeface="Calibri"/>
              </a:rPr>
              <a:t>time.</a:t>
            </a:r>
            <a:endParaRPr sz="1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sz="14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buChar char="•"/>
              <a:tabLst>
                <a:tab pos="288925" algn="l"/>
              </a:tabLst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Static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batch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reports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lag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behind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operational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decisions.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Char char="•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No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view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of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which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zones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are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surging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right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now.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Tip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prediction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from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historical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patterns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alone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is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too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slow.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70"/>
              </a:spcBef>
            </a:pPr>
            <a:endParaRPr sz="1100">
              <a:latin typeface="Calibri"/>
              <a:cs typeface="Calibri"/>
            </a:endParaRPr>
          </a:p>
          <a:p>
            <a:pPr marL="12700" marR="105410">
              <a:lnSpc>
                <a:spcPct val="118000"/>
              </a:lnSpc>
              <a:spcBef>
                <a:spcPts val="5"/>
              </a:spcBef>
            </a:pP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Goal:</a:t>
            </a:r>
            <a:r>
              <a:rPr dirty="0" sz="1100" spc="26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Build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full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streaming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analytics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prediction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stack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ingestion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live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dashboard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that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runs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reproducibly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on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single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machine.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75920"/>
          </a:xfrm>
          <a:custGeom>
            <a:avLst/>
            <a:gdLst/>
            <a:ahLst/>
            <a:cxnLst/>
            <a:rect l="l" t="t" r="r" b="b"/>
            <a:pathLst>
              <a:path w="5760085" h="375920">
                <a:moveTo>
                  <a:pt x="5759996" y="0"/>
                </a:moveTo>
                <a:lnTo>
                  <a:pt x="0" y="0"/>
                </a:lnTo>
                <a:lnTo>
                  <a:pt x="0" y="375881"/>
                </a:lnTo>
                <a:lnTo>
                  <a:pt x="5759996" y="375881"/>
                </a:lnTo>
                <a:lnTo>
                  <a:pt x="5759996" y="0"/>
                </a:lnTo>
                <a:close/>
              </a:path>
            </a:pathLst>
          </a:custGeom>
          <a:solidFill>
            <a:srgbClr val="1A2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2631" y="76019"/>
            <a:ext cx="141414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spc="55" b="1">
                <a:solidFill>
                  <a:srgbClr val="F9F9F9"/>
                </a:solidFill>
                <a:latin typeface="Calibri"/>
                <a:cs typeface="Calibri"/>
              </a:rPr>
              <a:t>System</a:t>
            </a:r>
            <a:r>
              <a:rPr dirty="0" sz="1200" spc="25" b="1">
                <a:solidFill>
                  <a:srgbClr val="F9F9F9"/>
                </a:solidFill>
                <a:latin typeface="Calibri"/>
                <a:cs typeface="Calibri"/>
              </a:rPr>
              <a:t> </a:t>
            </a:r>
            <a:r>
              <a:rPr dirty="0" sz="1200" spc="-10" b="1">
                <a:solidFill>
                  <a:srgbClr val="F9F9F9"/>
                </a:solidFill>
                <a:latin typeface="Calibri"/>
                <a:cs typeface="Calibri"/>
              </a:rPr>
              <a:t>Architecture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34922" y="487012"/>
            <a:ext cx="3090163" cy="218403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7839" y="2803415"/>
            <a:ext cx="3864610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5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50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PostgreSQL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Predictor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35">
                <a:solidFill>
                  <a:srgbClr val="22373A"/>
                </a:solidFill>
                <a:latin typeface="Calibri"/>
                <a:cs typeface="Calibri"/>
              </a:rPr>
              <a:t>Dashboard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20"/>
              <a:t>Architecture</a:t>
            </a:r>
            <a:r>
              <a:rPr dirty="0" spc="220"/>
              <a:t> </a:t>
            </a:r>
            <a:r>
              <a:rPr dirty="0" spc="-10"/>
              <a:t>Components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2" sz="half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6364" marR="5080" indent="-114300">
              <a:lnSpc>
                <a:spcPct val="118000"/>
              </a:lnSpc>
              <a:spcBef>
                <a:spcPts val="1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pc="20" b="1">
                <a:latin typeface="Calibri"/>
                <a:cs typeface="Calibri"/>
              </a:rPr>
              <a:t>Producer</a:t>
            </a:r>
            <a:r>
              <a:rPr dirty="0" spc="70" b="1">
                <a:latin typeface="Calibri"/>
                <a:cs typeface="Calibri"/>
              </a:rPr>
              <a:t> </a:t>
            </a:r>
            <a:r>
              <a:rPr dirty="0" spc="20" b="1">
                <a:latin typeface="Calibri"/>
                <a:cs typeface="Calibri"/>
              </a:rPr>
              <a:t>+</a:t>
            </a:r>
            <a:r>
              <a:rPr dirty="0" spc="70" b="1">
                <a:latin typeface="Calibri"/>
                <a:cs typeface="Calibri"/>
              </a:rPr>
              <a:t> </a:t>
            </a:r>
            <a:r>
              <a:rPr dirty="0" spc="20" b="1">
                <a:latin typeface="Calibri"/>
                <a:cs typeface="Calibri"/>
              </a:rPr>
              <a:t>Kafka:</a:t>
            </a:r>
            <a:r>
              <a:rPr dirty="0" spc="235" b="1">
                <a:latin typeface="Calibri"/>
                <a:cs typeface="Calibri"/>
              </a:rPr>
              <a:t> </a:t>
            </a:r>
            <a:r>
              <a:rPr dirty="0" spc="20"/>
              <a:t>replay</a:t>
            </a:r>
            <a:r>
              <a:rPr dirty="0" spc="114"/>
              <a:t> </a:t>
            </a:r>
            <a:r>
              <a:rPr dirty="0" spc="50"/>
              <a:t>trips</a:t>
            </a:r>
            <a:r>
              <a:rPr dirty="0" spc="120"/>
              <a:t> </a:t>
            </a:r>
            <a:r>
              <a:rPr dirty="0" spc="70"/>
              <a:t>as</a:t>
            </a:r>
            <a:r>
              <a:rPr dirty="0" spc="114"/>
              <a:t> </a:t>
            </a:r>
            <a:r>
              <a:rPr dirty="0" spc="10"/>
              <a:t>a </a:t>
            </a:r>
            <a:r>
              <a:rPr dirty="0"/>
              <a:t>live</a:t>
            </a:r>
            <a:r>
              <a:rPr dirty="0" spc="220"/>
              <a:t> </a:t>
            </a:r>
            <a:r>
              <a:rPr dirty="0"/>
              <a:t>event</a:t>
            </a:r>
            <a:r>
              <a:rPr dirty="0" spc="220"/>
              <a:t> </a:t>
            </a:r>
            <a:r>
              <a:rPr dirty="0" spc="-10"/>
              <a:t>stream</a:t>
            </a:r>
          </a:p>
          <a:p>
            <a:pPr marL="126364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b="1">
                <a:latin typeface="Calibri"/>
                <a:cs typeface="Calibri"/>
              </a:rPr>
              <a:t>Consumer:</a:t>
            </a:r>
            <a:r>
              <a:rPr dirty="0" spc="365" b="1">
                <a:latin typeface="Calibri"/>
                <a:cs typeface="Calibri"/>
              </a:rPr>
              <a:t> </a:t>
            </a:r>
            <a:r>
              <a:rPr dirty="0"/>
              <a:t>write</a:t>
            </a:r>
            <a:r>
              <a:rPr dirty="0" spc="215"/>
              <a:t> </a:t>
            </a:r>
            <a:r>
              <a:rPr dirty="0"/>
              <a:t>raw</a:t>
            </a:r>
            <a:r>
              <a:rPr dirty="0" spc="210"/>
              <a:t> </a:t>
            </a:r>
            <a:r>
              <a:rPr dirty="0"/>
              <a:t>events</a:t>
            </a:r>
            <a:r>
              <a:rPr dirty="0" spc="215"/>
              <a:t> </a:t>
            </a:r>
            <a:r>
              <a:rPr dirty="0" spc="-25"/>
              <a:t>to</a:t>
            </a:r>
          </a:p>
          <a:p>
            <a:pPr marL="126364">
              <a:lnSpc>
                <a:spcPct val="100000"/>
              </a:lnSpc>
              <a:spcBef>
                <a:spcPts val="235"/>
              </a:spcBef>
            </a:pPr>
            <a:r>
              <a:rPr dirty="0" spc="-10">
                <a:latin typeface="Courier New"/>
                <a:cs typeface="Courier New"/>
              </a:rPr>
              <a:t>live_trips</a:t>
            </a:r>
          </a:p>
          <a:p>
            <a:pPr marL="126364" marR="27368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pc="10" b="1">
                <a:latin typeface="Calibri"/>
                <a:cs typeface="Calibri"/>
              </a:rPr>
              <a:t>Spark:</a:t>
            </a:r>
            <a:r>
              <a:rPr dirty="0" spc="375" b="1">
                <a:latin typeface="Calibri"/>
                <a:cs typeface="Calibri"/>
              </a:rPr>
              <a:t> </a:t>
            </a:r>
            <a:r>
              <a:rPr dirty="0" spc="10"/>
              <a:t>10-min</a:t>
            </a:r>
            <a:r>
              <a:rPr dirty="0" spc="220"/>
              <a:t> </a:t>
            </a:r>
            <a:r>
              <a:rPr dirty="0" spc="10"/>
              <a:t>windowed</a:t>
            </a:r>
            <a:r>
              <a:rPr dirty="0" spc="220"/>
              <a:t> </a:t>
            </a:r>
            <a:r>
              <a:rPr dirty="0" spc="-20"/>
              <a:t>zone </a:t>
            </a:r>
            <a:r>
              <a:rPr dirty="0" spc="35"/>
              <a:t>aggregates</a:t>
            </a:r>
          </a:p>
          <a:p>
            <a:pPr marL="126364" marR="32384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pc="20" b="1">
                <a:latin typeface="Calibri"/>
                <a:cs typeface="Calibri"/>
              </a:rPr>
              <a:t>PostgreSQL:</a:t>
            </a:r>
            <a:r>
              <a:rPr dirty="0" spc="190" b="1">
                <a:latin typeface="Calibri"/>
                <a:cs typeface="Calibri"/>
              </a:rPr>
              <a:t> </a:t>
            </a:r>
            <a:r>
              <a:rPr dirty="0" spc="20"/>
              <a:t>live</a:t>
            </a:r>
            <a:r>
              <a:rPr dirty="0" spc="195"/>
              <a:t> </a:t>
            </a:r>
            <a:r>
              <a:rPr dirty="0" spc="20"/>
              <a:t>trips,</a:t>
            </a:r>
            <a:r>
              <a:rPr dirty="0" spc="195"/>
              <a:t> </a:t>
            </a:r>
            <a:r>
              <a:rPr dirty="0" spc="-10"/>
              <a:t>aggregates, predictions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150235" y="879929"/>
            <a:ext cx="2319655" cy="1289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6364" marR="313055" indent="-114300">
              <a:lnSpc>
                <a:spcPct val="118000"/>
              </a:lnSpc>
              <a:spcBef>
                <a:spcPts val="1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Trainer:</a:t>
            </a:r>
            <a:r>
              <a:rPr dirty="0" sz="1100" spc="33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on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historical </a:t>
            </a:r>
            <a:r>
              <a:rPr dirty="0" sz="1100" spc="35">
                <a:solidFill>
                  <a:srgbClr val="22373A"/>
                </a:solidFill>
                <a:latin typeface="Calibri"/>
                <a:cs typeface="Calibri"/>
              </a:rPr>
              <a:t>aggregates</a:t>
            </a:r>
            <a:endParaRPr sz="1100">
              <a:latin typeface="Calibri"/>
              <a:cs typeface="Calibri"/>
            </a:endParaRPr>
          </a:p>
          <a:p>
            <a:pPr marL="126364" marR="508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Predictor:</a:t>
            </a:r>
            <a:r>
              <a:rPr dirty="0" sz="1100" spc="34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periodic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inference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every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30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s</a:t>
            </a:r>
            <a:endParaRPr sz="1100">
              <a:latin typeface="Calibri"/>
              <a:cs typeface="Calibri"/>
            </a:endParaRPr>
          </a:p>
          <a:p>
            <a:pPr marL="126364" marR="18542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Dashboard:</a:t>
            </a:r>
            <a:r>
              <a:rPr dirty="0" sz="1100" spc="34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KPIs,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map,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zone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rankings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06713"/>
            <a:ext cx="41084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4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Data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1712"/>
            <a:ext cx="3048635" cy="5080"/>
            <a:chOff x="1356004" y="1661712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1712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1712"/>
              <a:ext cx="812800" cy="5080"/>
            </a:xfrm>
            <a:custGeom>
              <a:avLst/>
              <a:gdLst/>
              <a:ahLst/>
              <a:cxnLst/>
              <a:rect l="l" t="t" r="r" b="b"/>
              <a:pathLst>
                <a:path w="812800" h="5080">
                  <a:moveTo>
                    <a:pt x="0" y="5060"/>
                  </a:moveTo>
                  <a:lnTo>
                    <a:pt x="0" y="0"/>
                  </a:lnTo>
                  <a:lnTo>
                    <a:pt x="812797" y="0"/>
                  </a:lnTo>
                  <a:lnTo>
                    <a:pt x="8127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dirty="0" spc="65"/>
              <a:t> </a:t>
            </a:r>
            <a:r>
              <a:rPr dirty="0" spc="55"/>
              <a:t>Source</a:t>
            </a:r>
            <a:r>
              <a:rPr dirty="0" spc="70"/>
              <a:t> </a:t>
            </a:r>
            <a:r>
              <a:rPr dirty="0" spc="50"/>
              <a:t>and</a:t>
            </a:r>
            <a:r>
              <a:rPr dirty="0" spc="65"/>
              <a:t> </a:t>
            </a:r>
            <a:r>
              <a:rPr dirty="0" spc="-10"/>
              <a:t>Collection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09370"/>
            <a:ext cx="4778375" cy="2635250"/>
          </a:xfrm>
          <a:prstGeom prst="rect">
            <a:avLst/>
          </a:prstGeom>
        </p:spPr>
        <p:txBody>
          <a:bodyPr wrap="square" lIns="0" tIns="590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Source:</a:t>
            </a:r>
            <a:r>
              <a:rPr dirty="0" sz="1100" spc="31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NYC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TLC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Yellow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Taxi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Trip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Records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public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monthly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nyc.gov/site/tlc/about/tlc-trip-record-data.page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Collection</a:t>
            </a:r>
            <a:r>
              <a:rPr dirty="0" sz="1100" spc="204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workflow</a:t>
            </a:r>
            <a:endParaRPr sz="1100">
              <a:latin typeface="Calibri"/>
              <a:cs typeface="Calibri"/>
            </a:endParaRPr>
          </a:p>
          <a:p>
            <a:pPr marL="288925" indent="-161925">
              <a:lnSpc>
                <a:spcPct val="100000"/>
              </a:lnSpc>
              <a:spcBef>
                <a:spcPts val="835"/>
              </a:spcBef>
              <a:buAutoNum type="arabicPeriod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Size: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152GB</a:t>
            </a:r>
            <a:r>
              <a:rPr dirty="0" sz="1100" spc="11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CSV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24GB</a:t>
            </a:r>
            <a:r>
              <a:rPr dirty="0" sz="1100" spc="11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endParaRPr sz="1100">
              <a:latin typeface="Calibri"/>
              <a:cs typeface="Calibri"/>
            </a:endParaRPr>
          </a:p>
          <a:p>
            <a:pPr marL="288925" indent="-170815">
              <a:lnSpc>
                <a:spcPct val="100000"/>
              </a:lnSpc>
              <a:spcBef>
                <a:spcPts val="240"/>
              </a:spcBef>
              <a:buAutoNum type="arabicPeriod"/>
              <a:tabLst>
                <a:tab pos="288925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Tentative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Rows:</a:t>
            </a:r>
            <a:r>
              <a:rPr dirty="0" sz="1100" spc="2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 b="1">
                <a:solidFill>
                  <a:srgbClr val="22373A"/>
                </a:solidFill>
                <a:latin typeface="Calibri"/>
                <a:cs typeface="Calibri"/>
              </a:rPr>
              <a:t>1642819405</a:t>
            </a:r>
            <a:r>
              <a:rPr dirty="0" sz="1100" spc="4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Around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16̇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billion</a:t>
            </a:r>
            <a:endParaRPr sz="1100">
              <a:latin typeface="Calibri"/>
              <a:cs typeface="Calibri"/>
            </a:endParaRPr>
          </a:p>
          <a:p>
            <a:pPr marL="289560" indent="-171450">
              <a:lnSpc>
                <a:spcPct val="100000"/>
              </a:lnSpc>
              <a:spcBef>
                <a:spcPts val="245"/>
              </a:spcBef>
              <a:buAutoNum type="arabicPeriod"/>
              <a:tabLst>
                <a:tab pos="289560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Download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monthly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via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project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script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(retry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+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back-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off).</a:t>
            </a:r>
            <a:endParaRPr sz="1100">
              <a:latin typeface="Calibri"/>
              <a:cs typeface="Calibri"/>
            </a:endParaRPr>
          </a:p>
          <a:p>
            <a:pPr marL="288925" indent="-175895">
              <a:lnSpc>
                <a:spcPct val="100000"/>
              </a:lnSpc>
              <a:spcBef>
                <a:spcPts val="240"/>
              </a:spcBef>
              <a:buAutoNum type="arabicPeriod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Store</a:t>
            </a:r>
            <a:r>
              <a:rPr dirty="0" sz="1100" spc="2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under</a:t>
            </a:r>
            <a:r>
              <a:rPr dirty="0" sz="1100" spc="2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/data/raw-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data/parquet/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.</a:t>
            </a:r>
            <a:endParaRPr sz="1100">
              <a:latin typeface="Calibri"/>
              <a:cs typeface="Calibri"/>
            </a:endParaRPr>
          </a:p>
          <a:p>
            <a:pPr marL="288925" indent="-171450">
              <a:lnSpc>
                <a:spcPct val="100000"/>
              </a:lnSpc>
              <a:spcBef>
                <a:spcPts val="240"/>
              </a:spcBef>
              <a:buAutoNum type="arabicPeriod"/>
              <a:tabLst>
                <a:tab pos="288925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Producer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replays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rows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as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pseudo-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events.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18000"/>
              </a:lnSpc>
              <a:spcBef>
                <a:spcPts val="114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Scale:</a:t>
            </a:r>
            <a:r>
              <a:rPr dirty="0" sz="1100" spc="2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30">
                <a:solidFill>
                  <a:srgbClr val="22373A"/>
                </a:solidFill>
                <a:latin typeface="Calibri"/>
                <a:cs typeface="Calibri"/>
              </a:rPr>
              <a:t>2010–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2025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supported;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default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pull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2022-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01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→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2024-</a:t>
            </a:r>
            <a:r>
              <a:rPr dirty="0" sz="1100" spc="-35">
                <a:solidFill>
                  <a:srgbClr val="22373A"/>
                </a:solidFill>
                <a:latin typeface="Calibri"/>
                <a:cs typeface="Calibri"/>
              </a:rPr>
              <a:t>12;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quick-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start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uses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2022-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01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→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2022-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03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for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fast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local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iteration.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Reference</a:t>
            </a:r>
            <a:r>
              <a:rPr dirty="0" sz="1100" spc="6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data:</a:t>
            </a:r>
            <a:r>
              <a:rPr dirty="0" sz="1100" spc="22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TLC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centroid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CSV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for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spatial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mapping.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55"/>
              <a:t>Schema</a:t>
            </a:r>
            <a:r>
              <a:rPr dirty="0" spc="15"/>
              <a:t> </a:t>
            </a:r>
            <a:r>
              <a:rPr dirty="0" spc="50"/>
              <a:t>and</a:t>
            </a:r>
            <a:r>
              <a:rPr dirty="0" spc="20"/>
              <a:t> </a:t>
            </a:r>
            <a:r>
              <a:rPr dirty="0" spc="-10"/>
              <a:t>Metadata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dirty="0" spc="-10"/>
              <a:t>6</a:t>
            </a:r>
            <a:r>
              <a:rPr dirty="0" spc="-50"/>
              <a:t> </a:t>
            </a:r>
            <a:r>
              <a:rPr dirty="0" spc="100"/>
              <a:t>/</a:t>
            </a:r>
            <a:r>
              <a:rPr dirty="0" spc="-50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644573"/>
            <a:ext cx="1632585" cy="179832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Raw</a:t>
            </a:r>
            <a:r>
              <a:rPr dirty="0" sz="1100" spc="13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event</a:t>
            </a:r>
            <a:r>
              <a:rPr dirty="0" sz="1100" spc="1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fields</a:t>
            </a:r>
            <a:endParaRPr sz="1100">
              <a:latin typeface="Calibri"/>
              <a:cs typeface="Calibri"/>
            </a:endParaRPr>
          </a:p>
          <a:p>
            <a:pPr marL="289560" marR="508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pickup_datetime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dropoff_datetime</a:t>
            </a:r>
            <a:endParaRPr sz="1100">
              <a:latin typeface="Courier New"/>
              <a:cs typeface="Courier New"/>
            </a:endParaRPr>
          </a:p>
          <a:p>
            <a:pPr marL="289560" marR="5461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passenger_count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trip_distance</a:t>
            </a:r>
            <a:endParaRPr sz="1100">
              <a:latin typeface="Courier New"/>
              <a:cs typeface="Courier New"/>
            </a:endParaRPr>
          </a:p>
          <a:p>
            <a:pPr marL="289560" marR="13779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pu_location_id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do_location_id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total_amount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651799"/>
            <a:ext cx="2367915" cy="160083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Windowed</a:t>
            </a:r>
            <a:r>
              <a:rPr dirty="0" sz="1100" spc="12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 b="1">
                <a:solidFill>
                  <a:srgbClr val="22373A"/>
                </a:solidFill>
                <a:latin typeface="Calibri"/>
                <a:cs typeface="Calibri"/>
              </a:rPr>
              <a:t>aggregate</a:t>
            </a:r>
            <a:r>
              <a:rPr dirty="0" sz="1100" spc="12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fields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window_start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100" spc="-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window_end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pu_location_id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trip_count</a:t>
            </a:r>
            <a:endParaRPr sz="1100">
              <a:latin typeface="Courier New"/>
              <a:cs typeface="Courier New"/>
            </a:endParaRPr>
          </a:p>
          <a:p>
            <a:pPr marL="289560" marR="62357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avg_trip_distance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avg_duration_min</a:t>
            </a:r>
            <a:endParaRPr sz="1100">
              <a:latin typeface="Courier New"/>
              <a:cs typeface="Courier New"/>
            </a:endParaRPr>
          </a:p>
          <a:p>
            <a:pPr marL="289560" marR="73977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avg_speed_mph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avg_total_amount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7294" y="2558540"/>
            <a:ext cx="492506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Coordinates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snapped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nearest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centroid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via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BallTree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(</a:t>
            </a:r>
            <a:r>
              <a:rPr dirty="0" sz="1100" spc="50" i="1">
                <a:solidFill>
                  <a:srgbClr val="22373A"/>
                </a:solidFill>
                <a:latin typeface="Arial"/>
                <a:cs typeface="Arial"/>
              </a:rPr>
              <a:t>≈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100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m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precision).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dirty="0" spc="220"/>
              <a:t> </a:t>
            </a:r>
            <a:r>
              <a:rPr dirty="0"/>
              <a:t>Quality</a:t>
            </a:r>
            <a:r>
              <a:rPr dirty="0" spc="225"/>
              <a:t> </a:t>
            </a:r>
            <a:r>
              <a:rPr dirty="0" spc="35"/>
              <a:t>Rules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50061"/>
            <a:ext cx="331470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Rows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are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retained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only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when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they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satisfy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all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bounds: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229728" y="1087564"/>
            <a:ext cx="3300729" cy="0"/>
          </a:xfrm>
          <a:custGeom>
            <a:avLst/>
            <a:gdLst/>
            <a:ahLst/>
            <a:cxnLst/>
            <a:rect l="l" t="t" r="r" b="b"/>
            <a:pathLst>
              <a:path w="3300729" h="0">
                <a:moveTo>
                  <a:pt x="0" y="0"/>
                </a:moveTo>
                <a:lnTo>
                  <a:pt x="3300539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1292948" y="1127835"/>
            <a:ext cx="32448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Field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665103" y="1127835"/>
            <a:ext cx="9842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Accepted</a:t>
            </a:r>
            <a:r>
              <a:rPr dirty="0" sz="1100" spc="3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range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229728" y="1371117"/>
            <a:ext cx="3300729" cy="0"/>
          </a:xfrm>
          <a:custGeom>
            <a:avLst/>
            <a:gdLst/>
            <a:ahLst/>
            <a:cxnLst/>
            <a:rect l="l" t="t" r="r" b="b"/>
            <a:pathLst>
              <a:path w="3300729" h="0">
                <a:moveTo>
                  <a:pt x="0" y="0"/>
                </a:moveTo>
                <a:lnTo>
                  <a:pt x="3300539" y="0"/>
                </a:lnTo>
              </a:path>
            </a:pathLst>
          </a:custGeom>
          <a:ln w="6921">
            <a:solidFill>
              <a:srgbClr val="22373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1292948" y="1377693"/>
            <a:ext cx="1245870" cy="10153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315595">
              <a:lnSpc>
                <a:spcPct val="118000"/>
              </a:lnSpc>
              <a:spcBef>
                <a:spcPts val="100"/>
              </a:spcBef>
            </a:pP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Duration</a:t>
            </a:r>
            <a:r>
              <a:rPr dirty="0" sz="1100" spc="500">
                <a:solidFill>
                  <a:srgbClr val="22373A"/>
                </a:solidFill>
                <a:latin typeface="Calibri"/>
                <a:cs typeface="Calibri"/>
              </a:rPr>
              <a:t>  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Trip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distance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Average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speed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18000"/>
              </a:lnSpc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Fare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/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total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amount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Pickup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665103" y="1377693"/>
            <a:ext cx="1802130" cy="1015365"/>
          </a:xfrm>
          <a:prstGeom prst="rect">
            <a:avLst/>
          </a:prstGeom>
        </p:spPr>
        <p:txBody>
          <a:bodyPr wrap="square" lIns="0" tIns="431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1–180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min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35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0.2–100</a:t>
            </a:r>
            <a:r>
              <a:rPr dirty="0" sz="1100" spc="2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mi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1–80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mph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$0–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$500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35"/>
              </a:spcBef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valid</a:t>
            </a:r>
            <a:r>
              <a:rPr dirty="0" sz="11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ID</a:t>
            </a:r>
            <a:r>
              <a:rPr dirty="0" sz="1100" spc="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or</a:t>
            </a:r>
            <a:r>
              <a:rPr dirty="0" sz="11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mappable</a:t>
            </a:r>
            <a:r>
              <a:rPr dirty="0" sz="11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lat/lon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1229728" y="2446210"/>
            <a:ext cx="3300729" cy="0"/>
          </a:xfrm>
          <a:custGeom>
            <a:avLst/>
            <a:gdLst/>
            <a:ahLst/>
            <a:cxnLst/>
            <a:rect l="l" t="t" r="r" b="b"/>
            <a:pathLst>
              <a:path w="3300729" h="0">
                <a:moveTo>
                  <a:pt x="0" y="0"/>
                </a:moveTo>
                <a:lnTo>
                  <a:pt x="3300539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347294" y="2659785"/>
            <a:ext cx="483552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Conservative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filtering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reduces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outlier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influence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improves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model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stability.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dirty="0" spc="-10"/>
              <a:t>7</a:t>
            </a:r>
            <a:r>
              <a:rPr dirty="0" spc="-50"/>
              <a:t> </a:t>
            </a:r>
            <a:r>
              <a:rPr dirty="0" spc="100"/>
              <a:t>/</a:t>
            </a:r>
            <a:r>
              <a:rPr dirty="0" spc="-50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06713"/>
            <a:ext cx="66611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Process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1712"/>
            <a:ext cx="3048635" cy="5080"/>
            <a:chOff x="1356004" y="1661712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1712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1712"/>
              <a:ext cx="1422400" cy="5080"/>
            </a:xfrm>
            <a:custGeom>
              <a:avLst/>
              <a:gdLst/>
              <a:ahLst/>
              <a:cxnLst/>
              <a:rect l="l" t="t" r="r" b="b"/>
              <a:pathLst>
                <a:path w="1422400" h="5080">
                  <a:moveTo>
                    <a:pt x="0" y="5060"/>
                  </a:moveTo>
                  <a:lnTo>
                    <a:pt x="0" y="0"/>
                  </a:lnTo>
                  <a:lnTo>
                    <a:pt x="1422395" y="0"/>
                  </a:lnTo>
                  <a:lnTo>
                    <a:pt x="14223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55"/>
              <a:t>End-</a:t>
            </a:r>
            <a:r>
              <a:rPr dirty="0" spc="50"/>
              <a:t>to-End</a:t>
            </a:r>
            <a:r>
              <a:rPr dirty="0" spc="15"/>
              <a:t> </a:t>
            </a:r>
            <a:r>
              <a:rPr dirty="0" spc="55"/>
              <a:t>Processing</a:t>
            </a:r>
            <a:r>
              <a:rPr dirty="0" spc="20"/>
              <a:t> </a:t>
            </a:r>
            <a:r>
              <a:rPr dirty="0" spc="40"/>
              <a:t>Pipeline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48157" y="778850"/>
            <a:ext cx="4742815" cy="187452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87960" indent="-161925">
              <a:lnSpc>
                <a:spcPct val="100000"/>
              </a:lnSpc>
              <a:spcBef>
                <a:spcPts val="6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Ingest</a:t>
            </a:r>
            <a:r>
              <a:rPr dirty="0" sz="1100" spc="204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read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parquet,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normalize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timestamps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IDs.</a:t>
            </a:r>
            <a:endParaRPr sz="1100">
              <a:latin typeface="Calibri"/>
              <a:cs typeface="Calibri"/>
            </a:endParaRPr>
          </a:p>
          <a:p>
            <a:pPr marL="188595" indent="-170815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Stream</a:t>
            </a:r>
            <a:r>
              <a:rPr dirty="0" sz="1100" spc="229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replay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rows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at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configurable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rate.</a:t>
            </a:r>
            <a:endParaRPr sz="1100">
              <a:latin typeface="Calibri"/>
              <a:cs typeface="Calibri"/>
            </a:endParaRPr>
          </a:p>
          <a:p>
            <a:pPr marL="188595" marR="5080" indent="-172085">
              <a:lnSpc>
                <a:spcPct val="118000"/>
              </a:lnSpc>
              <a:spcBef>
                <a:spcPts val="30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Aggregate</a:t>
            </a:r>
            <a:r>
              <a:rPr dirty="0" sz="1100" spc="19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applies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quality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filters;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computes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10-min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window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stats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per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zone.</a:t>
            </a:r>
            <a:endParaRPr sz="1100">
              <a:latin typeface="Calibri"/>
              <a:cs typeface="Calibri"/>
            </a:endParaRPr>
          </a:p>
          <a:p>
            <a:pPr marL="188595" indent="-175895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spc="45" b="1">
                <a:solidFill>
                  <a:srgbClr val="22373A"/>
                </a:solidFill>
                <a:latin typeface="Calibri"/>
                <a:cs typeface="Calibri"/>
              </a:rPr>
              <a:t>Persist</a:t>
            </a:r>
            <a:r>
              <a:rPr dirty="0" sz="1100" spc="15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consumer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writes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window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stats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table.</a:t>
            </a:r>
            <a:endParaRPr sz="1100">
              <a:latin typeface="Calibri"/>
              <a:cs typeface="Calibri"/>
            </a:endParaRPr>
          </a:p>
          <a:p>
            <a:pPr marL="187960" indent="-171450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Train</a:t>
            </a:r>
            <a:r>
              <a:rPr dirty="0" sz="1100" spc="1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reads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aggregates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in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small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batches.</a:t>
            </a:r>
            <a:endParaRPr sz="1100">
              <a:latin typeface="Calibri"/>
              <a:cs typeface="Calibri"/>
            </a:endParaRPr>
          </a:p>
          <a:p>
            <a:pPr marL="187325" indent="-174625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732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Predict</a:t>
            </a:r>
            <a:r>
              <a:rPr dirty="0" sz="1100" spc="25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predictor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scores</a:t>
            </a:r>
            <a:r>
              <a:rPr dirty="0" sz="1100" spc="2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real-time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windows.</a:t>
            </a:r>
            <a:endParaRPr sz="1100">
              <a:latin typeface="Calibri"/>
              <a:cs typeface="Calibri"/>
            </a:endParaRPr>
          </a:p>
          <a:p>
            <a:pPr marL="187960" indent="-151130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Visualize</a:t>
            </a:r>
            <a:r>
              <a:rPr dirty="0" sz="1100" spc="24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Streamlit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renders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KPIs,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rankings,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map.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Inputs</a:t>
            </a:r>
            <a:r>
              <a:rPr dirty="0" spc="150"/>
              <a:t> </a:t>
            </a:r>
            <a:r>
              <a:rPr dirty="0" spc="50"/>
              <a:t>and</a:t>
            </a:r>
            <a:r>
              <a:rPr dirty="0" spc="155"/>
              <a:t> </a:t>
            </a:r>
            <a:r>
              <a:rPr dirty="0" spc="-10"/>
              <a:t>Outputs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79895" y="997328"/>
            <a:ext cx="1683385" cy="93091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Inputs</a:t>
            </a:r>
            <a:endParaRPr sz="1100">
              <a:latin typeface="Calibri"/>
              <a:cs typeface="Calibri"/>
            </a:endParaRPr>
          </a:p>
          <a:p>
            <a:pPr marL="289560" marR="508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Historical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trip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centroid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5">
                <a:solidFill>
                  <a:srgbClr val="22373A"/>
                </a:solidFill>
                <a:latin typeface="Calibri"/>
                <a:cs typeface="Calibri"/>
              </a:rPr>
              <a:t>CSV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35695" y="1013673"/>
            <a:ext cx="1575435" cy="116713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Intermediates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100" spc="2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topic</a:t>
            </a:r>
            <a:endParaRPr sz="1100">
              <a:latin typeface="Calibri"/>
              <a:cs typeface="Calibri"/>
            </a:endParaRPr>
          </a:p>
          <a:p>
            <a:pPr marL="289560">
              <a:lnSpc>
                <a:spcPct val="100000"/>
              </a:lnSpc>
              <a:spcBef>
                <a:spcPts val="240"/>
              </a:spcBef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taxi-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trips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traffic_agg</a:t>
            </a:r>
            <a:r>
              <a:rPr dirty="0" sz="1100" spc="-305">
                <a:solidFill>
                  <a:srgbClr val="22373A"/>
                </a:solidFill>
                <a:latin typeface="Courier New"/>
                <a:cs typeface="Courier New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Char char="•"/>
              <a:tabLst>
                <a:tab pos="288925" algn="l"/>
              </a:tabLst>
            </a:pP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checkpoints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891495" y="1013673"/>
            <a:ext cx="1575435" cy="140271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Final</a:t>
            </a:r>
            <a:r>
              <a:rPr dirty="0" sz="1100" spc="16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outputs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traffic_model</a:t>
            </a:r>
            <a:endParaRPr sz="1100">
              <a:latin typeface="Courier New"/>
              <a:cs typeface="Courier New"/>
            </a:endParaRPr>
          </a:p>
          <a:p>
            <a:pPr marL="289560">
              <a:lnSpc>
                <a:spcPct val="100000"/>
              </a:lnSpc>
              <a:spcBef>
                <a:spcPts val="240"/>
              </a:spcBef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.joblib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metrics.json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predictions</a:t>
            </a:r>
            <a:r>
              <a:rPr dirty="0" sz="1100" spc="-305">
                <a:solidFill>
                  <a:srgbClr val="22373A"/>
                </a:solidFill>
                <a:latin typeface="Courier New"/>
                <a:cs typeface="Courier New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dashboard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10"/>
              <a:t>Model</a:t>
            </a:r>
            <a:r>
              <a:rPr dirty="0" spc="140"/>
              <a:t> </a:t>
            </a:r>
            <a:r>
              <a:rPr dirty="0" spc="10"/>
              <a:t>Training</a:t>
            </a:r>
            <a:r>
              <a:rPr dirty="0" spc="140"/>
              <a:t> </a:t>
            </a:r>
            <a:r>
              <a:rPr dirty="0" spc="-10"/>
              <a:t>Configuration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99830"/>
            <a:ext cx="2264410" cy="1380490"/>
          </a:xfrm>
          <a:prstGeom prst="rect">
            <a:avLst/>
          </a:prstGeom>
        </p:spPr>
        <p:txBody>
          <a:bodyPr wrap="square" lIns="0" tIns="9842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Target:</a:t>
            </a:r>
            <a:r>
              <a:rPr dirty="0" sz="1100" spc="31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tip_amount</a:t>
            </a:r>
            <a:endParaRPr sz="11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Features:</a:t>
            </a:r>
            <a:endParaRPr sz="1100">
              <a:latin typeface="Calibri"/>
              <a:cs typeface="Calibri"/>
            </a:endParaRPr>
          </a:p>
          <a:p>
            <a:pPr marL="288290" indent="-109220">
              <a:lnSpc>
                <a:spcPct val="100000"/>
              </a:lnSpc>
              <a:spcBef>
                <a:spcPts val="455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>
                <a:solidFill>
                  <a:srgbClr val="22373A"/>
                </a:solidFill>
                <a:latin typeface="Courier New"/>
                <a:cs typeface="Courier New"/>
              </a:rPr>
              <a:t>location_id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-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20">
                <a:solidFill>
                  <a:srgbClr val="22373A"/>
                </a:solidFill>
                <a:latin typeface="Courier New"/>
                <a:cs typeface="Courier New"/>
              </a:rPr>
              <a:t>hour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470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day_of_week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475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trip_distance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duration_min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475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>
                <a:solidFill>
                  <a:srgbClr val="22373A"/>
                </a:solidFill>
                <a:latin typeface="Courier New"/>
                <a:cs typeface="Courier New"/>
              </a:rPr>
              <a:t>speed_mph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-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trip_count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1092160"/>
            <a:ext cx="2072639" cy="121983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10" b="1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20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settings:</a:t>
            </a:r>
            <a:endParaRPr sz="1100">
              <a:latin typeface="Calibri"/>
              <a:cs typeface="Calibri"/>
            </a:endParaRPr>
          </a:p>
          <a:p>
            <a:pPr marL="288290" indent="-109220">
              <a:lnSpc>
                <a:spcPct val="100000"/>
              </a:lnSpc>
              <a:spcBef>
                <a:spcPts val="750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>
                <a:solidFill>
                  <a:srgbClr val="22373A"/>
                </a:solidFill>
                <a:latin typeface="Courier New"/>
                <a:cs typeface="Courier New"/>
              </a:rPr>
              <a:t>max_depth=5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-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lr=0.05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775"/>
              </a:spcBef>
              <a:buChar char="•"/>
              <a:tabLst>
                <a:tab pos="288290" algn="l"/>
              </a:tabLst>
            </a:pP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80/20</a:t>
            </a:r>
            <a:r>
              <a:rPr dirty="0" sz="1000" spc="2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temporal</a:t>
            </a:r>
            <a:r>
              <a:rPr dirty="0" sz="1000" spc="2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train-test</a:t>
            </a:r>
            <a:r>
              <a:rPr dirty="0" sz="1000" spc="2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40">
                <a:solidFill>
                  <a:srgbClr val="22373A"/>
                </a:solidFill>
                <a:latin typeface="Calibri"/>
                <a:cs typeface="Calibri"/>
              </a:rPr>
              <a:t>split</a:t>
            </a:r>
            <a:endParaRPr sz="1000">
              <a:latin typeface="Calibri"/>
              <a:cs typeface="Calibri"/>
            </a:endParaRPr>
          </a:p>
          <a:p>
            <a:pPr marL="12700" marR="5080">
              <a:lnSpc>
                <a:spcPct val="118000"/>
              </a:lnSpc>
              <a:spcBef>
                <a:spcPts val="1055"/>
              </a:spcBef>
            </a:pPr>
            <a:r>
              <a:rPr dirty="0" sz="1100" spc="10" b="1">
                <a:solidFill>
                  <a:srgbClr val="22373A"/>
                </a:solidFill>
                <a:latin typeface="Calibri"/>
                <a:cs typeface="Calibri"/>
              </a:rPr>
              <a:t>Strategy:</a:t>
            </a:r>
            <a:r>
              <a:rPr dirty="0" sz="1100" spc="39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500K-row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mini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batches;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12720"/>
            <a:ext cx="64071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Results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7719"/>
            <a:ext cx="3048635" cy="5080"/>
            <a:chOff x="1356004" y="1667719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7719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7719"/>
              <a:ext cx="2032635" cy="5080"/>
            </a:xfrm>
            <a:custGeom>
              <a:avLst/>
              <a:gdLst/>
              <a:ahLst/>
              <a:cxnLst/>
              <a:rect l="l" t="t" r="r" b="b"/>
              <a:pathLst>
                <a:path w="2032635" h="5080">
                  <a:moveTo>
                    <a:pt x="0" y="5060"/>
                  </a:moveTo>
                  <a:lnTo>
                    <a:pt x="0" y="0"/>
                  </a:lnTo>
                  <a:lnTo>
                    <a:pt x="2032040" y="0"/>
                  </a:lnTo>
                  <a:lnTo>
                    <a:pt x="20320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Model</a:t>
            </a:r>
            <a:r>
              <a:rPr dirty="0" spc="105"/>
              <a:t> </a:t>
            </a:r>
            <a:r>
              <a:rPr dirty="0" spc="-10"/>
              <a:t>Performance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845502" y="869264"/>
          <a:ext cx="4145279" cy="9563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3630"/>
                <a:gridCol w="763905"/>
                <a:gridCol w="932180"/>
              </a:tblGrid>
              <a:tr h="34734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00" spc="4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Model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8419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0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MAE</a:t>
                      </a:r>
                      <a:r>
                        <a:rPr dirty="0" sz="1400" spc="6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2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($)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8419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0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MAPE</a:t>
                      </a:r>
                      <a:r>
                        <a:rPr dirty="0" sz="1400" spc="16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9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(%)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8419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</a:tr>
              <a:tr h="28892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400" spc="8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Baseline</a:t>
                      </a:r>
                      <a:r>
                        <a:rPr dirty="0" sz="1400" spc="9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7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(zone-</a:t>
                      </a:r>
                      <a:r>
                        <a:rPr dirty="0" sz="1400" spc="9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hour</a:t>
                      </a:r>
                      <a:r>
                        <a:rPr dirty="0" sz="1400" spc="9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5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mean)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400" spc="4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1.99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400" spc="6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15.43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dirty="0" sz="1400" spc="65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XGBoost</a:t>
                      </a:r>
                      <a:r>
                        <a:rPr dirty="0" sz="1400" spc="50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(test)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29209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dirty="0" sz="1400" spc="35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0.49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29209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dirty="0" sz="1400" spc="35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3.42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29209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347294" y="2098596"/>
            <a:ext cx="5066030" cy="6191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75%</a:t>
            </a:r>
            <a:r>
              <a:rPr dirty="0" sz="1100" spc="14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reduction</a:t>
            </a:r>
            <a:r>
              <a:rPr dirty="0" sz="1100" spc="14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E66E51"/>
                </a:solidFill>
                <a:latin typeface="Calibri"/>
                <a:cs typeface="Calibri"/>
              </a:rPr>
              <a:t>in</a:t>
            </a:r>
            <a:r>
              <a:rPr dirty="0" sz="1100" spc="14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MAE</a:t>
            </a:r>
            <a:r>
              <a:rPr dirty="0" sz="1100" spc="15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over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the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baseline.</a:t>
            </a:r>
            <a:r>
              <a:rPr dirty="0" sz="1100" spc="3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captures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nonlinear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interactions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between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demand,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speed,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duration,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time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that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simple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mean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cannot</a:t>
            </a:r>
            <a:r>
              <a:rPr dirty="0" sz="1100" spc="5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represent.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45"/>
              <a:t>Dashboard</a:t>
            </a:r>
            <a:r>
              <a:rPr dirty="0" spc="95"/>
              <a:t> </a:t>
            </a:r>
            <a:r>
              <a:rPr dirty="0" spc="50"/>
              <a:t>and</a:t>
            </a:r>
            <a:r>
              <a:rPr dirty="0" spc="95"/>
              <a:t> </a:t>
            </a:r>
            <a:r>
              <a:rPr dirty="0" spc="20"/>
              <a:t>Analytics</a:t>
            </a:r>
            <a:r>
              <a:rPr dirty="0" spc="95"/>
              <a:t> </a:t>
            </a:r>
            <a:r>
              <a:rPr dirty="0" spc="-10"/>
              <a:t>Outputs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2597" y="589757"/>
            <a:ext cx="4434831" cy="197856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20496" y="2700672"/>
            <a:ext cx="4119245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55">
                <a:solidFill>
                  <a:srgbClr val="22373A"/>
                </a:solidFill>
                <a:latin typeface="Calibri"/>
                <a:cs typeface="Calibri"/>
              </a:rPr>
              <a:t>KPIs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rankings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with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surge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55">
                <a:solidFill>
                  <a:srgbClr val="22373A"/>
                </a:solidFill>
                <a:latin typeface="Calibri"/>
                <a:cs typeface="Calibri"/>
              </a:rPr>
              <a:t>badges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NYC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50">
                <a:solidFill>
                  <a:srgbClr val="22373A"/>
                </a:solidFill>
                <a:latin typeface="Calibri"/>
                <a:cs typeface="Calibri"/>
              </a:rPr>
              <a:t>map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45">
                <a:solidFill>
                  <a:srgbClr val="22373A"/>
                </a:solidFill>
                <a:latin typeface="Calibri"/>
                <a:cs typeface="Calibri"/>
              </a:rPr>
              <a:t>rolling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trip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12720"/>
            <a:ext cx="127254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90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Key</a:t>
            </a:r>
            <a:r>
              <a:rPr dirty="0" sz="1400" spc="20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 </a:t>
            </a:r>
            <a:r>
              <a:rPr dirty="0" sz="1400" spc="5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Takeaways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7719"/>
            <a:ext cx="3048635" cy="5080"/>
            <a:chOff x="1356004" y="1667719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7719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7719"/>
              <a:ext cx="2439035" cy="5080"/>
            </a:xfrm>
            <a:custGeom>
              <a:avLst/>
              <a:gdLst/>
              <a:ahLst/>
              <a:cxnLst/>
              <a:rect l="l" t="t" r="r" b="b"/>
              <a:pathLst>
                <a:path w="2439035" h="5080">
                  <a:moveTo>
                    <a:pt x="0" y="5060"/>
                  </a:moveTo>
                  <a:lnTo>
                    <a:pt x="0" y="0"/>
                  </a:lnTo>
                  <a:lnTo>
                    <a:pt x="2438439" y="0"/>
                  </a:lnTo>
                  <a:lnTo>
                    <a:pt x="24384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What</a:t>
            </a:r>
            <a:r>
              <a:rPr dirty="0" spc="75"/>
              <a:t> </a:t>
            </a:r>
            <a:r>
              <a:rPr dirty="0"/>
              <a:t>Worked</a:t>
            </a:r>
            <a:r>
              <a:rPr dirty="0" spc="80"/>
              <a:t> </a:t>
            </a:r>
            <a:r>
              <a:rPr dirty="0" spc="50"/>
              <a:t>and</a:t>
            </a:r>
            <a:r>
              <a:rPr dirty="0" spc="80"/>
              <a:t> </a:t>
            </a:r>
            <a:r>
              <a:rPr dirty="0"/>
              <a:t>What</a:t>
            </a:r>
            <a:r>
              <a:rPr dirty="0" spc="80"/>
              <a:t> </a:t>
            </a:r>
            <a:r>
              <a:rPr dirty="0"/>
              <a:t>Was</a:t>
            </a:r>
            <a:r>
              <a:rPr dirty="0" spc="80"/>
              <a:t> </a:t>
            </a:r>
            <a:r>
              <a:rPr dirty="0" spc="-20"/>
              <a:t>Hard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350441"/>
            <a:ext cx="2274570" cy="176085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Worked</a:t>
            </a:r>
            <a:r>
              <a:rPr dirty="0" sz="1100" spc="1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 b="1">
                <a:solidFill>
                  <a:srgbClr val="22373A"/>
                </a:solidFill>
                <a:latin typeface="Calibri"/>
                <a:cs typeface="Calibri"/>
              </a:rPr>
              <a:t>well</a:t>
            </a:r>
            <a:endParaRPr sz="1100">
              <a:latin typeface="Calibri"/>
              <a:cs typeface="Calibri"/>
            </a:endParaRPr>
          </a:p>
          <a:p>
            <a:pPr algn="just" marL="289560" marR="103505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Reproducible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one-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command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startup</a:t>
            </a:r>
            <a:r>
              <a:rPr dirty="0" sz="1100" spc="1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with</a:t>
            </a:r>
            <a:r>
              <a:rPr dirty="0" sz="1100" spc="1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Docker</a:t>
            </a:r>
            <a:r>
              <a:rPr dirty="0" sz="1100" spc="1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Compose.</a:t>
            </a:r>
            <a:endParaRPr sz="1100">
              <a:latin typeface="Calibri"/>
              <a:cs typeface="Calibri"/>
            </a:endParaRPr>
          </a:p>
          <a:p>
            <a:pPr algn="just" marL="289560" marR="5715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windowed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aggregates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as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stable,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interpretable</a:t>
            </a:r>
            <a:r>
              <a:rPr dirty="0" sz="1100" spc="2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features.</a:t>
            </a:r>
            <a:endParaRPr sz="1100">
              <a:latin typeface="Calibri"/>
              <a:cs typeface="Calibri"/>
            </a:endParaRPr>
          </a:p>
          <a:p>
            <a:pPr algn="just" marL="289560" marR="508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Strong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prediction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accuracy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with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even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with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10%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training data.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357642"/>
            <a:ext cx="2545715" cy="259016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Most</a:t>
            </a:r>
            <a:r>
              <a:rPr dirty="0" sz="1100" spc="5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difficult</a:t>
            </a:r>
            <a:endParaRPr sz="1100">
              <a:latin typeface="Calibri"/>
              <a:cs typeface="Calibri"/>
            </a:endParaRPr>
          </a:p>
          <a:p>
            <a:pPr marL="289560" marR="17653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9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performance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drop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when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we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train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in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all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data.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May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5">
                <a:solidFill>
                  <a:srgbClr val="22373A"/>
                </a:solidFill>
                <a:latin typeface="Calibri"/>
                <a:cs typeface="Calibri"/>
              </a:rPr>
              <a:t>be</a:t>
            </a:r>
            <a:endParaRPr sz="1100">
              <a:latin typeface="Calibri"/>
              <a:cs typeface="Calibri"/>
            </a:endParaRPr>
          </a:p>
          <a:p>
            <a:pPr marL="289560">
              <a:lnSpc>
                <a:spcPct val="100000"/>
              </a:lnSpc>
              <a:spcBef>
                <a:spcPts val="240"/>
              </a:spcBef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over-fitting.</a:t>
            </a:r>
            <a:r>
              <a:rPr dirty="0" sz="1100" spc="3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(Pytorch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might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be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easy)</a:t>
            </a:r>
            <a:endParaRPr sz="1100">
              <a:latin typeface="Calibri"/>
              <a:cs typeface="Calibri"/>
            </a:endParaRPr>
          </a:p>
          <a:p>
            <a:pPr marL="289560" marR="28194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Network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communication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across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docker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container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volume mounts.</a:t>
            </a:r>
            <a:endParaRPr sz="1100">
              <a:latin typeface="Calibri"/>
              <a:cs typeface="Calibri"/>
            </a:endParaRPr>
          </a:p>
          <a:p>
            <a:pPr marL="289560" marR="1397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Schema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changes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inconsistent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data.</a:t>
            </a:r>
            <a:r>
              <a:rPr dirty="0" sz="1100" spc="2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LC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format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changes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(lat/lon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5">
                <a:solidFill>
                  <a:srgbClr val="22373A"/>
                </a:solidFill>
                <a:latin typeface="Calibri"/>
                <a:cs typeface="Calibri"/>
              </a:rPr>
              <a:t>vs.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IDs).</a:t>
            </a:r>
            <a:endParaRPr sz="1100">
              <a:latin typeface="Calibri"/>
              <a:cs typeface="Calibri"/>
            </a:endParaRPr>
          </a:p>
          <a:p>
            <a:pPr marL="289560" marR="173355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Difficult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restart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training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on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failures.</a:t>
            </a:r>
            <a:r>
              <a:rPr dirty="0" sz="1100" spc="2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checkpoints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helps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264395" y="2953675"/>
            <a:ext cx="7810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but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difficult.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370817" y="3066896"/>
            <a:ext cx="300990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40">
                <a:solidFill>
                  <a:srgbClr val="22373A"/>
                </a:solidFill>
                <a:latin typeface="Calibri"/>
                <a:cs typeface="Calibri"/>
              </a:rPr>
              <a:t>13</a:t>
            </a:r>
            <a:r>
              <a:rPr dirty="0" sz="800" spc="-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 spc="100">
                <a:solidFill>
                  <a:srgbClr val="22373A"/>
                </a:solidFill>
                <a:latin typeface="Calibri"/>
                <a:cs typeface="Calibri"/>
              </a:rPr>
              <a:t>/</a:t>
            </a:r>
            <a:r>
              <a:rPr dirty="0" sz="800" spc="-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 spc="-25">
                <a:solidFill>
                  <a:srgbClr val="22373A"/>
                </a:solidFill>
                <a:latin typeface="Calibri"/>
                <a:cs typeface="Calibri"/>
              </a:rPr>
              <a:t>15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20"/>
              <a:t>Additional</a:t>
            </a:r>
            <a:r>
              <a:rPr dirty="0" spc="200"/>
              <a:t> </a:t>
            </a:r>
            <a:r>
              <a:rPr dirty="0" spc="40"/>
              <a:t>References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80"/>
              </a:spcBef>
            </a:pPr>
            <a:r>
              <a:rPr dirty="0" spc="-25"/>
              <a:t>14</a:t>
            </a:r>
            <a:r>
              <a:rPr dirty="0" spc="-45"/>
              <a:t> </a:t>
            </a:r>
            <a:r>
              <a:rPr dirty="0" spc="100"/>
              <a:t>/</a:t>
            </a:r>
            <a:r>
              <a:rPr dirty="0" spc="-40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10235" y="1250604"/>
            <a:ext cx="4481195" cy="93091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6364" indent="-113664">
              <a:lnSpc>
                <a:spcPct val="100000"/>
              </a:lnSpc>
              <a:spcBef>
                <a:spcPts val="635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Youtube</a:t>
            </a:r>
            <a:r>
              <a:rPr dirty="0" sz="1100" spc="18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links:</a:t>
            </a:r>
            <a:r>
              <a:rPr dirty="0" sz="1100" spc="40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  <a:hlinkClick r:id="rId2"/>
              </a:rPr>
              <a:t>https://youtu.be/lEEw0fPl7UM</a:t>
            </a:r>
            <a:endParaRPr sz="1100">
              <a:latin typeface="Courier New"/>
              <a:cs typeface="Courier New"/>
            </a:endParaRPr>
          </a:p>
          <a:p>
            <a:pPr marL="126364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Code</a:t>
            </a:r>
            <a:r>
              <a:rPr dirty="0" sz="1100" spc="18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Links:</a:t>
            </a:r>
            <a:r>
              <a:rPr dirty="0" sz="1100" spc="40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  <a:hlinkClick r:id="rId3"/>
              </a:rPr>
              <a:t>https://github.com/dhunganabibek/StreamCab</a:t>
            </a:r>
            <a:endParaRPr sz="1100">
              <a:latin typeface="Courier New"/>
              <a:cs typeface="Courier New"/>
            </a:endParaRPr>
          </a:p>
          <a:p>
            <a:pPr marL="126364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1100" spc="1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source:</a:t>
            </a:r>
            <a:endParaRPr sz="1100">
              <a:latin typeface="Calibri"/>
              <a:cs typeface="Calibri"/>
            </a:endParaRPr>
          </a:p>
          <a:p>
            <a:pPr marL="126364">
              <a:lnSpc>
                <a:spcPct val="100000"/>
              </a:lnSpc>
              <a:spcBef>
                <a:spcPts val="240"/>
              </a:spcBef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  <a:hlinkClick r:id="rId4"/>
              </a:rPr>
              <a:t>www.nyc.gov/site/tlc/about/tlc-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  <a:hlinkClick r:id="rId4"/>
              </a:rPr>
              <a:t>trip-record-data.page</a:t>
            </a:r>
            <a:endParaRPr sz="1100">
              <a:latin typeface="Courier New"/>
              <a:cs typeface="Courier New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450" spc="100" b="0">
                <a:solidFill>
                  <a:srgbClr val="22373A"/>
                </a:solidFill>
                <a:latin typeface="Calibri"/>
                <a:cs typeface="Calibri"/>
              </a:rPr>
              <a:t>Questions?</a:t>
            </a:r>
            <a:endParaRPr sz="245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80"/>
              </a:spcBef>
            </a:pPr>
            <a:r>
              <a:rPr dirty="0" spc="-25"/>
              <a:t>15</a:t>
            </a:r>
            <a:r>
              <a:rPr dirty="0" spc="-45"/>
              <a:t> </a:t>
            </a:r>
            <a:r>
              <a:rPr dirty="0" spc="100"/>
              <a:t>/</a:t>
            </a:r>
            <a:r>
              <a:rPr dirty="0" spc="-40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23198" y="1777552"/>
            <a:ext cx="91376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80">
                <a:solidFill>
                  <a:srgbClr val="22373A"/>
                </a:solidFill>
                <a:latin typeface="Calibri"/>
                <a:cs typeface="Calibri"/>
              </a:rPr>
              <a:t>Thank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30">
                <a:solidFill>
                  <a:srgbClr val="22373A"/>
                </a:solidFill>
                <a:latin typeface="Calibri"/>
                <a:cs typeface="Calibri"/>
              </a:rPr>
              <a:t>you.</a:t>
            </a:r>
            <a:endParaRPr sz="14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 Bibek Dhungana, Xiaodi Shao, Raivath Mallela</dc:creator>
  <dc:title>StreamCab - Real-Time Taxi Fare Intelligence Kafka · Spark Structured Streaming · XGBoost</dc:title>
  <dcterms:created xsi:type="dcterms:W3CDTF">2026-04-22T16:21:00Z</dcterms:created>
  <dcterms:modified xsi:type="dcterms:W3CDTF">2026-04-22T16:21:00Z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2026-04-22T00:00:00Z</vt:filetime>
  </property>
  <property fmtid="{D5CDD505-2E9C-101B-9397-08002B2CF9AE}" pid="5" name="PTEX.FullBanner">
    <vt:lpwstr>This is LuaHBTeX, Version 1.21.0 (TeX Live 2025)</vt:lpwstr>
  </property>
  <property fmtid="{D5CDD505-2E9C-101B-9397-08002B2CF9AE}" pid="6" name="Producer">
    <vt:lpwstr>LuaTeX-1.21.0</vt:lpwstr>
  </property>
</Properties>
</file>